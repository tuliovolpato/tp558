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07" r:id="rId3"/>
    <p:sldId id="311" r:id="rId4"/>
    <p:sldId id="308" r:id="rId5"/>
    <p:sldId id="309" r:id="rId6"/>
    <p:sldId id="310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4" r:id="rId19"/>
    <p:sldId id="323" r:id="rId20"/>
    <p:sldId id="326" r:id="rId21"/>
    <p:sldId id="325" r:id="rId22"/>
    <p:sldId id="327" r:id="rId23"/>
    <p:sldId id="330" r:id="rId24"/>
    <p:sldId id="328" r:id="rId25"/>
    <p:sldId id="329" r:id="rId26"/>
    <p:sldId id="306" r:id="rId27"/>
    <p:sldId id="331" r:id="rId28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8" autoAdjust="0"/>
    <p:restoredTop sz="95097" autoAdjust="0"/>
  </p:normalViewPr>
  <p:slideViewPr>
    <p:cSldViewPr snapToGrid="0">
      <p:cViewPr varScale="1">
        <p:scale>
          <a:sx n="83" d="100"/>
          <a:sy n="83" d="100"/>
        </p:scale>
        <p:origin x="869" y="77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handoutMaster" Target="handoutMasters/handout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13/09/2025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50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dirty="0"/>
              <a:t>Redes Neurais de Grafos (</a:t>
            </a:r>
            <a:r>
              <a:rPr lang="pt-BR" b="1" dirty="0" err="1"/>
              <a:t>GNNs</a:t>
            </a:r>
            <a:r>
              <a:rPr lang="pt-BR" b="1" dirty="0"/>
              <a:t>)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Túlio Barroso Volpato</a:t>
            </a:r>
          </a:p>
          <a:p>
            <a:r>
              <a:rPr lang="pt-BR" dirty="0"/>
              <a:t>tulio.vol1@gmail.com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/>
              <a:t>Conceitos Fundamentais</a:t>
            </a:r>
          </a:p>
          <a:p>
            <a:pPr>
              <a:defRPr sz="2200"/>
            </a:pPr>
            <a:r>
              <a:rPr lang="pt-BR" dirty="0"/>
              <a:t>Introdução: Por que </a:t>
            </a:r>
            <a:r>
              <a:rPr lang="pt-BR" dirty="0" err="1"/>
              <a:t>GNNs</a:t>
            </a:r>
            <a:r>
              <a:rPr lang="pt-BR" dirty="0"/>
              <a:t>?</a:t>
            </a:r>
          </a:p>
          <a:p>
            <a:pPr>
              <a:defRPr sz="2200"/>
            </a:pPr>
            <a:r>
              <a:rPr lang="pt-BR" dirty="0"/>
              <a:t>A Taxonomia das </a:t>
            </a:r>
            <a:r>
              <a:rPr lang="pt-BR" dirty="0" err="1"/>
              <a:t>GNNs</a:t>
            </a:r>
            <a:endParaRPr lang="pt-BR" dirty="0"/>
          </a:p>
          <a:p>
            <a:pPr>
              <a:defRPr sz="2200"/>
            </a:pPr>
            <a:r>
              <a:rPr lang="pt-BR" dirty="0"/>
              <a:t>Análise Comparativa dos Modelos</a:t>
            </a:r>
          </a:p>
          <a:p>
            <a:pPr>
              <a:defRPr sz="2200"/>
            </a:pPr>
            <a:r>
              <a:rPr lang="pt-BR" dirty="0"/>
              <a:t>Conclusão e Direções Futuras</a:t>
            </a:r>
          </a:p>
          <a:p>
            <a:pPr>
              <a:defRPr sz="2200"/>
            </a:pPr>
            <a:r>
              <a:rPr lang="pt-BR" dirty="0"/>
              <a:t>Perguntas e Respostas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11418-F10A-D307-D448-0F8ACD3A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Fundamentais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EEF5CD-E846-B7D9-5854-54D9F9280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29081" cy="5068927"/>
          </a:xfrm>
        </p:spPr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lang="pt-BR" sz="1600" dirty="0"/>
              <a:t>Dados Euclidianos: informações que podem ser organizadas de forma muito regular e previsível, como em uma grade ou em uma linha.</a:t>
            </a:r>
          </a:p>
          <a:p>
            <a:pPr>
              <a:defRPr sz="2200"/>
            </a:pPr>
            <a:r>
              <a:rPr lang="pt-BR" sz="1600" dirty="0"/>
              <a:t>Dados não Euclidianos: são dados que não representam uma estrutura regular. Cada nó pode ter um número variado de conexões e acrescentar ou remover informações </a:t>
            </a:r>
            <a:r>
              <a:rPr lang="pt-BR" sz="1600"/>
              <a:t>não necessita </a:t>
            </a:r>
            <a:r>
              <a:rPr lang="pt-BR" sz="1600" dirty="0"/>
              <a:t>de reestruturar todo o conjunto de dados.</a:t>
            </a:r>
          </a:p>
          <a:p>
            <a:pPr>
              <a:defRPr sz="2200"/>
            </a:pPr>
            <a:r>
              <a:rPr lang="pt-BR" sz="1600" dirty="0"/>
              <a:t>Grafo: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sz="1600" dirty="0"/>
              <a:t>Nós (V): As entidades. </a:t>
            </a:r>
            <a:r>
              <a:rPr lang="pt-BR" sz="1600" dirty="0" err="1"/>
              <a:t>Ex</a:t>
            </a:r>
            <a:r>
              <a:rPr lang="pt-BR" sz="1600" dirty="0"/>
              <a:t>: uma pessoa, um artigo, uma molécula.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sz="1600" dirty="0"/>
              <a:t>Arestas (E): As relações entre os nós. </a:t>
            </a:r>
            <a:r>
              <a:rPr lang="pt-BR" sz="1600" dirty="0" err="1"/>
              <a:t>Ex</a:t>
            </a:r>
            <a:r>
              <a:rPr lang="pt-BR" sz="1600" dirty="0"/>
              <a:t>: amizade, citação.</a:t>
            </a:r>
          </a:p>
          <a:p>
            <a:pPr>
              <a:defRPr sz="2200"/>
            </a:pPr>
            <a:r>
              <a:rPr lang="pt-BR" sz="1600" dirty="0"/>
              <a:t>Matriz de Adjacência (A): Representa as conexões do grafo.</a:t>
            </a:r>
          </a:p>
          <a:p>
            <a:pPr>
              <a:defRPr sz="2200"/>
            </a:pPr>
            <a:r>
              <a:rPr lang="pt-BR" sz="1600" dirty="0" err="1"/>
              <a:t>Embeddings</a:t>
            </a:r>
            <a:r>
              <a:rPr lang="pt-BR" sz="1600" dirty="0"/>
              <a:t>: representações numéricas de dados (como palavras, frases, imagens ou sons) em vetores de alta dimensão.</a:t>
            </a:r>
          </a:p>
          <a:p>
            <a:pPr>
              <a:defRPr sz="2200"/>
            </a:pPr>
            <a:r>
              <a:rPr lang="pt-BR" sz="1600" dirty="0" err="1"/>
              <a:t>Features</a:t>
            </a:r>
            <a:r>
              <a:rPr lang="pt-BR" sz="1600" dirty="0"/>
              <a:t>: são os atributos, variáveis ou propriedades mensuráveis que descrevem um objeto ou uma observação dentro de um conjunto de dados.</a:t>
            </a:r>
          </a:p>
          <a:p>
            <a:pPr>
              <a:defRPr sz="2200"/>
            </a:pPr>
            <a:r>
              <a:rPr lang="pt-BR" sz="1600" dirty="0"/>
              <a:t>Batch: conjunto de exemplos de dados processados de uma vez pelo modelo durante o treinamento.</a:t>
            </a:r>
          </a:p>
          <a:p>
            <a:pPr>
              <a:defRPr sz="2200"/>
            </a:pPr>
            <a:r>
              <a:rPr lang="pt-BR" sz="1600" dirty="0"/>
              <a:t>Clusters: Agrupamento de elementos semelhantes.</a:t>
            </a:r>
          </a:p>
          <a:p>
            <a:pPr>
              <a:defRPr sz="2200"/>
            </a:pPr>
            <a:r>
              <a:rPr lang="pt-BR" sz="1600" dirty="0"/>
              <a:t>Taxonomia: É o processo ou sistema de classificação organizada de elementos em categorias e subcategorias, geralmente seguindo uma estrutura hierárquica (do mais geral ao mais específico).</a:t>
            </a:r>
          </a:p>
          <a:p>
            <a:pPr>
              <a:defRPr sz="2200"/>
            </a:pPr>
            <a:r>
              <a:rPr lang="pt-BR" sz="1600" dirty="0"/>
              <a:t>over-</a:t>
            </a:r>
            <a:r>
              <a:rPr lang="pt-BR" sz="1600" dirty="0" err="1"/>
              <a:t>smoothing</a:t>
            </a:r>
            <a:r>
              <a:rPr lang="pt-BR" sz="1600" dirty="0"/>
              <a:t>: É um problema chave em </a:t>
            </a:r>
            <a:r>
              <a:rPr lang="pt-BR" sz="1600" dirty="0" err="1"/>
              <a:t>GNNs</a:t>
            </a:r>
            <a:r>
              <a:rPr lang="pt-BR" sz="1600" dirty="0"/>
              <a:t> profundas. Com o empilhamento de muitas camadas, a agregação de vizinhanças faz com que as representações de todos os nós convirjam para um único ponto, tornando-as indistinguíveis e perdendo o poder de representação do modelo.“</a:t>
            </a:r>
          </a:p>
          <a:p>
            <a:pPr>
              <a:defRPr sz="2200"/>
            </a:pPr>
            <a:r>
              <a:rPr lang="pt-BR" sz="1600" dirty="0"/>
              <a:t>Estado da arte: refere-se ao mais alto nível de desenvolvimento ou desempenho alcançado em uma área ou tecnologia em um determinado momento.</a:t>
            </a:r>
          </a:p>
          <a:p>
            <a:pPr>
              <a:defRPr sz="2200"/>
            </a:pPr>
            <a:endParaRPr lang="pt-BR" sz="1600" dirty="0"/>
          </a:p>
          <a:p>
            <a:pPr>
              <a:defRPr sz="2200"/>
            </a:pPr>
            <a:endParaRPr lang="pt-BR" sz="1600" dirty="0"/>
          </a:p>
          <a:p>
            <a:pPr>
              <a:defRPr sz="2200"/>
            </a:pPr>
            <a:endParaRPr lang="pt-BR" sz="1600" dirty="0"/>
          </a:p>
          <a:p>
            <a:pPr>
              <a:defRPr sz="2200"/>
            </a:pPr>
            <a:endParaRPr lang="pt-BR" sz="1600" dirty="0"/>
          </a:p>
          <a:p>
            <a:pPr>
              <a:defRPr sz="2200"/>
            </a:pPr>
            <a:endParaRPr lang="pt-BR" sz="1600" dirty="0"/>
          </a:p>
          <a:p>
            <a:pPr>
              <a:defRPr sz="2200"/>
            </a:pPr>
            <a:endParaRPr lang="pt-BR" sz="1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405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72" y="3915782"/>
            <a:ext cx="6355508" cy="1325563"/>
          </a:xfrm>
        </p:spPr>
        <p:txBody>
          <a:bodyPr/>
          <a:lstStyle/>
          <a:p>
            <a:r>
              <a:rPr lang="pt-BR" sz="4400" dirty="0"/>
              <a:t>O Limite do </a:t>
            </a:r>
            <a:r>
              <a:rPr lang="pt-BR" sz="4400" dirty="0" err="1"/>
              <a:t>Deep</a:t>
            </a:r>
            <a:r>
              <a:rPr lang="pt-BR" sz="4400" dirty="0"/>
              <a:t> Learning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080" y="3915782"/>
            <a:ext cx="5257800" cy="239027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 sz="2200"/>
            </a:pPr>
            <a:r>
              <a:rPr lang="pt-BR" sz="1600" dirty="0"/>
              <a:t>O </a:t>
            </a:r>
            <a:r>
              <a:rPr lang="pt-BR" sz="1600" dirty="0" err="1"/>
              <a:t>Deep</a:t>
            </a:r>
            <a:r>
              <a:rPr lang="pt-BR" sz="1600" dirty="0"/>
              <a:t> Learning revolucionou tarefas com dados em domínios Euclidianos.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defRPr sz="2200"/>
            </a:pPr>
            <a:r>
              <a:rPr lang="pt-BR" sz="1600" dirty="0" err="1"/>
              <a:t>Ex</a:t>
            </a:r>
            <a:r>
              <a:rPr lang="pt-BR" sz="1600" dirty="0"/>
              <a:t>: Imagens (grades 2D de pixels), textos e áudio (sequências 1D).</a:t>
            </a:r>
          </a:p>
          <a:p>
            <a:pPr>
              <a:lnSpc>
                <a:spcPct val="90000"/>
              </a:lnSpc>
              <a:defRPr sz="2200"/>
            </a:pPr>
            <a:r>
              <a:rPr lang="pt-BR" sz="1600" dirty="0"/>
              <a:t>Esses modelos, como </a:t>
            </a:r>
            <a:r>
              <a:rPr lang="pt-BR" sz="1600" dirty="0" err="1"/>
              <a:t>CNNs</a:t>
            </a:r>
            <a:r>
              <a:rPr lang="pt-BR" sz="1600" dirty="0"/>
              <a:t> - </a:t>
            </a:r>
            <a:r>
              <a:rPr lang="pt-BR" sz="1600" dirty="0" err="1"/>
              <a:t>Convolutional</a:t>
            </a:r>
            <a:r>
              <a:rPr lang="pt-BR" sz="1600" dirty="0"/>
              <a:t> Neural Network (Rede Neural </a:t>
            </a:r>
            <a:r>
              <a:rPr lang="pt-BR" sz="1600" dirty="0" err="1"/>
              <a:t>Convolucional</a:t>
            </a:r>
            <a:r>
              <a:rPr lang="pt-BR" sz="1600" dirty="0"/>
              <a:t>) e </a:t>
            </a:r>
            <a:r>
              <a:rPr lang="pt-BR" sz="1600" dirty="0" err="1"/>
              <a:t>RNNs</a:t>
            </a:r>
            <a:r>
              <a:rPr lang="pt-BR" sz="1600" dirty="0"/>
              <a:t> - </a:t>
            </a:r>
            <a:r>
              <a:rPr lang="pt-BR" sz="1600" dirty="0" err="1"/>
              <a:t>Recurrent</a:t>
            </a:r>
            <a:r>
              <a:rPr lang="pt-BR" sz="1600" dirty="0"/>
              <a:t> Neural Network (Rede Neural Recorrente), exploram a regularidade desses dados (localidade, conectividade fixa).</a:t>
            </a:r>
          </a:p>
          <a:p>
            <a:pPr>
              <a:lnSpc>
                <a:spcPct val="90000"/>
              </a:lnSpc>
              <a:defRPr sz="2200"/>
            </a:pPr>
            <a:r>
              <a:rPr lang="pt-BR" sz="1600" dirty="0"/>
              <a:t>Desafio: Muitos dados do mundo real são irregulares e não se encaixam nesse formato.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0DE357-EBEF-93D0-3996-10ED6835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70" b="20100"/>
          <a:stretch>
            <a:fillRect/>
          </a:stretch>
        </p:blipFill>
        <p:spPr>
          <a:xfrm>
            <a:off x="0" y="120154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F8440-5159-954C-64CD-773668A1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Mundo é um Grafo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54601-D73D-1EC5-530E-4EE450158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/>
              <a:t>Aplicações crescentes geram dados representados como grafos: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Redes Sociais: Usuários e suas amizades.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Química: Moléculas, onde átomos são nós e ligações são arestas.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Sistemas de Recomendação: Interação entre usuários e produtos.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Redes de Citação: Artigos científicos e suas citações.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Transações Bancárias: Relações entre contas, clientes e transações.</a:t>
            </a:r>
          </a:p>
          <a:p>
            <a:pPr>
              <a:defRPr sz="2200"/>
            </a:pPr>
            <a:r>
              <a:rPr lang="pt-BR" dirty="0"/>
              <a:t>Esses dados possuem relações complexas e interdependências que os modelos tradicionais não capturam bem.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998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25E21-E73C-E585-17C1-FBED92FB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 - </a:t>
            </a:r>
            <a:r>
              <a:rPr lang="pt-BR" dirty="0" err="1"/>
              <a:t>GNNs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8B3074-D57B-1B0F-ED36-3B29A0E2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 err="1"/>
              <a:t>GNNs</a:t>
            </a:r>
            <a:r>
              <a:rPr lang="pt-BR" dirty="0"/>
              <a:t> são uma classe de Redes Neurais projetada para aprender diretamente de dados estruturados em grafos.</a:t>
            </a:r>
          </a:p>
          <a:p>
            <a:pPr>
              <a:defRPr sz="2200"/>
            </a:pPr>
            <a:r>
              <a:rPr lang="pt-BR" dirty="0"/>
              <a:t>Elas estendem o poder do </a:t>
            </a:r>
            <a:r>
              <a:rPr lang="pt-BR" dirty="0" err="1"/>
              <a:t>Deep</a:t>
            </a:r>
            <a:r>
              <a:rPr lang="pt-BR" dirty="0"/>
              <a:t> Learning para domínios não-Euclidianos.</a:t>
            </a:r>
          </a:p>
          <a:p>
            <a:pPr>
              <a:defRPr sz="2200"/>
            </a:pPr>
            <a:r>
              <a:rPr lang="pt-BR" dirty="0"/>
              <a:t>O objetivo é aprender representações (</a:t>
            </a:r>
            <a:r>
              <a:rPr lang="pt-BR" dirty="0" err="1"/>
              <a:t>embeddings</a:t>
            </a:r>
            <a:r>
              <a:rPr lang="pt-BR" dirty="0"/>
              <a:t>) de nós, arestas ou do grafo inteiro que capturem sua estrutura e características.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Classificação de nós, por exemplo, nós confiáveis e fraudulentos.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Predição de conexão, como possível recomendação em redes sociais.</a:t>
            </a:r>
          </a:p>
          <a:p>
            <a:pPr lvl="1">
              <a:buFont typeface="Wingdings" panose="05000000000000000000" pitchFamily="2" charset="2"/>
              <a:buChar char="Ø"/>
              <a:defRPr sz="2200"/>
            </a:pPr>
            <a:r>
              <a:rPr lang="pt-BR" dirty="0"/>
              <a:t>Classificação de ligações, que podem classificar o comportamento de um grafo. Como moléculas toxicas e não toxicas.</a:t>
            </a:r>
          </a:p>
          <a:p>
            <a:pPr lvl="2">
              <a:defRPr sz="2200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183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FC5E0-CB4D-A94D-C48A-2AB6105C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Como as GNNs </a:t>
            </a:r>
            <a:r>
              <a:rPr lang="en-US" sz="4400" kern="1200" dirty="0" err="1">
                <a:latin typeface="+mj-lt"/>
                <a:ea typeface="+mj-ea"/>
                <a:cs typeface="+mj-cs"/>
              </a:rPr>
              <a:t>Enxergam</a:t>
            </a:r>
            <a:r>
              <a:rPr lang="en-US" sz="44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latin typeface="+mj-lt"/>
                <a:ea typeface="+mj-ea"/>
                <a:cs typeface="+mj-cs"/>
              </a:rPr>
              <a:t>os</a:t>
            </a:r>
            <a:r>
              <a:rPr lang="en-US" sz="44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latin typeface="+mj-lt"/>
                <a:ea typeface="+mj-ea"/>
                <a:cs typeface="+mj-cs"/>
              </a:rPr>
              <a:t>Grafos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30752-0E27-C569-6F17-C727D5799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957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A base da estrutura do Grafo, no nível mais simples, é representar relações. Ela é formada por:</a:t>
            </a:r>
          </a:p>
          <a:p>
            <a:r>
              <a:rPr lang="pt-BR" dirty="0"/>
              <a:t>Nós (ou Vértices): As entidades, como pessoas em uma rede social, átomos em uma molécula ou cruzamentos em um mapa de ruas.</a:t>
            </a:r>
          </a:p>
          <a:p>
            <a:r>
              <a:rPr lang="pt-BR" dirty="0"/>
              <a:t>Arestas: As conexões entre eles. A natureza dessas conexões é fundamental e pode variar, por exemplo: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900" dirty="0"/>
              <a:t>Sem Direção (Bidirecional): Como uma amizade no Facebook. Se você é amigo de alguém, essa pessoa também é sua amiga. A relação é mútua.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900" dirty="0"/>
              <a:t>Com Direção (Unidirecional): Como seguir alguém no Instagram ou o fluxo de tráfego em uma rua de mão única. A relação vai de A para B, mas não necessariamente de B para A.</a:t>
            </a:r>
          </a:p>
          <a:p>
            <a:pPr marL="0" indent="0">
              <a:buNone/>
            </a:pPr>
            <a:r>
              <a:rPr lang="pt-BR" dirty="0"/>
              <a:t>Uma GNN opera em um Grafo Atribuído, que adiciona "personalidade" a essa estrutura: </a:t>
            </a:r>
          </a:p>
          <a:p>
            <a:r>
              <a:rPr lang="pt-BR" dirty="0"/>
              <a:t>Características de Nós (Matriz X): Cada nó recebe um "DNA", um vetor de características que o descreve. Para uma pessoa em uma rede social, por exemplo, esse vetor poderia conter seus interesses, idade e cidade.</a:t>
            </a:r>
          </a:p>
          <a:p>
            <a:r>
              <a:rPr lang="pt-BR" dirty="0"/>
              <a:t>Topologia (Matriz de Adjacência A): Continua sendo o mapa que nos diz quem está conectado a quem.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objetivo da GNN é, então, combinar a estrutura do grafo (a topologia em A) com as características de cada nó (os atributos em X). Ao fazer isso, ela aprende o papel e o significado de cada entidade dentro do contexto completo da rede, permitindo gerar representações muito mais expressivas e úteis.</a:t>
            </a:r>
          </a:p>
        </p:txBody>
      </p:sp>
    </p:spTree>
    <p:extLst>
      <p:ext uri="{BB962C8B-B14F-4D97-AF65-F5344CB8AC3E}">
        <p14:creationId xmlns:p14="http://schemas.microsoft.com/office/powerpoint/2010/main" val="36737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FBBA-7F80-EDC7-9D8A-3814336D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Ideia Central - Convolução em Grafos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7A664-20B1-B091-D826-89DD91D1A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/>
              <a:t>Inspirada nas </a:t>
            </a:r>
            <a:r>
              <a:rPr lang="pt-BR" dirty="0" err="1"/>
              <a:t>CNNs</a:t>
            </a:r>
            <a:r>
              <a:rPr lang="pt-BR" dirty="0"/>
              <a:t> para imagens, a convolução em grafos é a operação chave.</a:t>
            </a:r>
          </a:p>
          <a:p>
            <a:pPr>
              <a:defRPr sz="2200"/>
            </a:pPr>
            <a:r>
              <a:rPr lang="pt-BR" dirty="0"/>
              <a:t>Ideia: A representação de um nó é gerada agregando informações de seus próprios atributos com os de seus vizinhos.</a:t>
            </a:r>
          </a:p>
          <a:p>
            <a:pPr>
              <a:defRPr sz="2200"/>
            </a:pPr>
            <a:r>
              <a:rPr lang="pt-BR" dirty="0"/>
              <a:t>Isso permite que o modelo aprenda padrões baseados na vizinhança local de cada nó, propagando informação pelo grafo a cada camada.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850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494C6-3866-223C-9D26-6E30AD01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Taxonomia das </a:t>
            </a:r>
            <a:r>
              <a:rPr lang="pt-BR" dirty="0" err="1"/>
              <a:t>GNNs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82EE4D-43C0-9AB8-189F-4CB5F7692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/>
              <a:t>O artigo propõe uma nova taxonomia para organizar o campo em quatro categorias principais:</a:t>
            </a:r>
          </a:p>
          <a:p>
            <a:pPr lvl="1">
              <a:defRPr sz="2200"/>
            </a:pPr>
            <a:r>
              <a:rPr lang="pt-BR" dirty="0"/>
              <a:t>Redes Neurais de Grafos Recorrentes (</a:t>
            </a:r>
            <a:r>
              <a:rPr lang="pt-BR" dirty="0" err="1"/>
              <a:t>RecGNNs</a:t>
            </a:r>
            <a:r>
              <a:rPr lang="pt-BR" dirty="0"/>
              <a:t>).</a:t>
            </a:r>
          </a:p>
          <a:p>
            <a:pPr lvl="1">
              <a:defRPr sz="2200"/>
            </a:pPr>
            <a:r>
              <a:rPr lang="pt-BR" dirty="0"/>
              <a:t>Redes Neurais de Grafos </a:t>
            </a:r>
            <a:r>
              <a:rPr lang="pt-BR" dirty="0" err="1"/>
              <a:t>Convolucionais</a:t>
            </a:r>
            <a:r>
              <a:rPr lang="pt-BR" dirty="0"/>
              <a:t> (</a:t>
            </a:r>
            <a:r>
              <a:rPr lang="pt-BR" dirty="0" err="1"/>
              <a:t>ConvGNNs</a:t>
            </a:r>
            <a:r>
              <a:rPr lang="pt-BR" dirty="0"/>
              <a:t>).</a:t>
            </a:r>
          </a:p>
          <a:p>
            <a:pPr lvl="1">
              <a:defRPr sz="2200"/>
            </a:pPr>
            <a:r>
              <a:rPr lang="pt-BR" dirty="0" err="1"/>
              <a:t>Autoencoders</a:t>
            </a:r>
            <a:r>
              <a:rPr lang="pt-BR" dirty="0"/>
              <a:t> de Grafos (</a:t>
            </a:r>
            <a:r>
              <a:rPr lang="pt-BR" dirty="0" err="1"/>
              <a:t>GAEs</a:t>
            </a:r>
            <a:r>
              <a:rPr lang="pt-BR" dirty="0"/>
              <a:t>).</a:t>
            </a:r>
          </a:p>
          <a:p>
            <a:pPr lvl="1">
              <a:defRPr sz="2200"/>
            </a:pPr>
            <a:r>
              <a:rPr lang="pt-BR" dirty="0"/>
              <a:t>Redes Neurais de Grafos Espaço-Temporais (</a:t>
            </a:r>
            <a:r>
              <a:rPr lang="pt-BR" dirty="0" err="1"/>
              <a:t>STGNNs</a:t>
            </a:r>
            <a:r>
              <a:rPr lang="pt-BR" dirty="0"/>
              <a:t>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146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798AE-09C2-02C9-69E0-AB09B89E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RecGNNs</a:t>
            </a:r>
            <a:r>
              <a:rPr lang="pt-BR" dirty="0"/>
              <a:t> - Redes Neurais de Grafos Recorrentes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97826-ABCA-67C6-CF96-6340400E5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A ideia central é que cada nó possui um estado oculto (uma memória). Esse estado é atualizado repetidamente usando informações dos seus vizinhos, até que a rede inteira se estabilize. </a:t>
            </a:r>
          </a:p>
          <a:p>
            <a:pPr marL="0" indent="0">
              <a:buNone/>
            </a:pPr>
            <a:r>
              <a:rPr lang="pt-BR" dirty="0"/>
              <a:t>Nós que pertencem a um mesmo “grupos” tendem a ter um estado oculto parecido.</a:t>
            </a:r>
          </a:p>
          <a:p>
            <a:pPr marL="0" indent="0">
              <a:buNone/>
            </a:pPr>
            <a:r>
              <a:rPr lang="pt-BR" dirty="0"/>
              <a:t>Os </a:t>
            </a:r>
            <a:r>
              <a:rPr lang="pt-BR" dirty="0" err="1"/>
              <a:t>RecGNNs</a:t>
            </a:r>
            <a:r>
              <a:rPr lang="pt-BR" dirty="0"/>
              <a:t> são pioneiros em modelos  </a:t>
            </a:r>
            <a:r>
              <a:rPr lang="pt-BR" dirty="0" err="1"/>
              <a:t>GNNs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Apresentam melhor desempenho em redes menores, pois sua forma de propagar informação é gradual e repetitiva o que pode ocasionar em perda de informações ao longo de muitas iterações.	</a:t>
            </a:r>
          </a:p>
          <a:p>
            <a:pPr marL="0" indent="0">
              <a:buNone/>
            </a:pPr>
            <a:r>
              <a:rPr lang="pt-BR" dirty="0"/>
              <a:t>Problemas:</a:t>
            </a:r>
          </a:p>
          <a:p>
            <a:r>
              <a:rPr lang="pt-BR" dirty="0"/>
              <a:t>Custo computacional elevado, pois exige iterações até a convergência.</a:t>
            </a:r>
          </a:p>
          <a:p>
            <a:r>
              <a:rPr lang="pt-BR" dirty="0"/>
              <a:t>A função de transição recorrente precisa ser uma 'aplicação de contração' para garantir a estabilidade, o que limita a expressividade do modelo."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5860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D7FD03-0430-E0A8-EFC2-3DC6F970B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094" y="3948059"/>
            <a:ext cx="4468906" cy="2906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A </a:t>
            </a:r>
            <a:r>
              <a:rPr lang="en-US" sz="2800" dirty="0" err="1"/>
              <a:t>representação</a:t>
            </a:r>
            <a:r>
              <a:rPr lang="en-US" sz="2800" dirty="0"/>
              <a:t> de um </a:t>
            </a:r>
            <a:r>
              <a:rPr lang="en-US" sz="2800" dirty="0" err="1"/>
              <a:t>nó</a:t>
            </a:r>
            <a:r>
              <a:rPr lang="en-US" sz="2800" dirty="0"/>
              <a:t> é </a:t>
            </a:r>
            <a:r>
              <a:rPr lang="en-US" sz="2800" dirty="0" err="1"/>
              <a:t>refinada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rodadas</a:t>
            </a:r>
            <a:r>
              <a:rPr lang="en-US" sz="2800" dirty="0"/>
              <a:t>. Em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rodada</a:t>
            </a:r>
            <a:r>
              <a:rPr lang="en-US" sz="2800" dirty="0"/>
              <a:t>, </a:t>
            </a:r>
            <a:r>
              <a:rPr lang="en-US" sz="2800" dirty="0" err="1"/>
              <a:t>ele</a:t>
            </a:r>
            <a:r>
              <a:rPr lang="en-US" sz="2800" dirty="0"/>
              <a:t> "</a:t>
            </a:r>
            <a:r>
              <a:rPr lang="en-US" sz="2800" dirty="0" err="1"/>
              <a:t>escuta</a:t>
            </a:r>
            <a:r>
              <a:rPr lang="en-US" sz="2800" dirty="0"/>
              <a:t>" </a:t>
            </a:r>
            <a:r>
              <a:rPr lang="en-US" sz="2800" dirty="0" err="1"/>
              <a:t>seus</a:t>
            </a:r>
            <a:r>
              <a:rPr lang="en-US" sz="2800" dirty="0"/>
              <a:t> </a:t>
            </a:r>
            <a:r>
              <a:rPr lang="en-US" sz="2800" dirty="0" err="1"/>
              <a:t>vizinhos</a:t>
            </a:r>
            <a:r>
              <a:rPr lang="en-US" sz="2800" dirty="0"/>
              <a:t> da </a:t>
            </a:r>
            <a:r>
              <a:rPr lang="en-US" sz="2800" dirty="0" err="1"/>
              <a:t>rodada</a:t>
            </a:r>
            <a:r>
              <a:rPr lang="en-US" sz="2800" dirty="0"/>
              <a:t> anterior e </a:t>
            </a:r>
            <a:r>
              <a:rPr lang="en-US" sz="2800" dirty="0" err="1"/>
              <a:t>recalcula</a:t>
            </a:r>
            <a:r>
              <a:rPr lang="en-US" sz="2800" dirty="0"/>
              <a:t> </a:t>
            </a:r>
            <a:r>
              <a:rPr lang="en-US" sz="2800" dirty="0" err="1"/>
              <a:t>seu</a:t>
            </a:r>
            <a:r>
              <a:rPr lang="en-US" sz="2800" dirty="0"/>
              <a:t> </a:t>
            </a:r>
            <a:r>
              <a:rPr lang="en-US" sz="2800" dirty="0" err="1"/>
              <a:t>estado</a:t>
            </a:r>
            <a:r>
              <a:rPr lang="en-US" sz="2800" dirty="0"/>
              <a:t>. O </a:t>
            </a:r>
            <a:r>
              <a:rPr lang="en-US" sz="2800" dirty="0" err="1"/>
              <a:t>processo</a:t>
            </a:r>
            <a:r>
              <a:rPr lang="en-US" sz="2800" dirty="0"/>
              <a:t> para </a:t>
            </a:r>
            <a:r>
              <a:rPr lang="en-US" sz="2800" dirty="0" err="1"/>
              <a:t>quando</a:t>
            </a:r>
            <a:r>
              <a:rPr lang="en-US" sz="2800" dirty="0"/>
              <a:t> as </a:t>
            </a:r>
            <a:r>
              <a:rPr lang="en-US" sz="2800" dirty="0" err="1"/>
              <a:t>representações</a:t>
            </a:r>
            <a:r>
              <a:rPr lang="en-US" sz="2800" dirty="0"/>
              <a:t> se </a:t>
            </a:r>
            <a:r>
              <a:rPr lang="en-US" sz="2800" dirty="0" err="1"/>
              <a:t>estabilizam</a:t>
            </a:r>
            <a:r>
              <a:rPr lang="en-US" sz="2800" dirty="0"/>
              <a:t>.</a:t>
            </a:r>
          </a:p>
          <a:p>
            <a:endParaRPr lang="pt-BR" dirty="0"/>
          </a:p>
        </p:txBody>
      </p:sp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3294EB67-4470-BDF8-ACD9-08778547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99" y="94026"/>
            <a:ext cx="6279168" cy="634259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8781CC-9D2B-4A4E-6832-B07BCB07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589" y="1522347"/>
            <a:ext cx="5392411" cy="101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7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A2BDE-1645-8B1E-A147-51884730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ConvGNNs</a:t>
            </a:r>
            <a:r>
              <a:rPr lang="pt-BR" dirty="0"/>
              <a:t> - Redes Neurais de Grafos </a:t>
            </a:r>
            <a:r>
              <a:rPr lang="pt-BR" dirty="0" err="1"/>
              <a:t>Convolucionais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187D7-E5A5-0FB0-77CA-5ABF36428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57" y="1878110"/>
            <a:ext cx="10515600" cy="482749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3600" dirty="0"/>
              <a:t>Adapta a ideia de redes </a:t>
            </a:r>
            <a:r>
              <a:rPr lang="pt-BR" sz="3600" dirty="0" err="1"/>
              <a:t>Convolucionais</a:t>
            </a:r>
            <a:r>
              <a:rPr lang="pt-BR" sz="3600" dirty="0"/>
              <a:t> de imagem para grafos (modelo matemático composto por vértices (nós) e arestas (bordas).</a:t>
            </a:r>
          </a:p>
          <a:p>
            <a:pPr marL="0" indent="0">
              <a:buNone/>
            </a:pPr>
            <a:r>
              <a:rPr lang="pt-BR" sz="3600" dirty="0"/>
              <a:t>Cada nó agrega informação de seus vizinhas para refinar suas próprias.</a:t>
            </a:r>
          </a:p>
          <a:p>
            <a:pPr marL="0" indent="0">
              <a:buNone/>
            </a:pPr>
            <a:r>
              <a:rPr lang="pt-BR" sz="3600" dirty="0"/>
              <a:t>Espectrais: </a:t>
            </a:r>
          </a:p>
          <a:p>
            <a:r>
              <a:rPr lang="pt-BR" sz="3600" dirty="0"/>
              <a:t>Utiliza a Matriz Laplaciana, uma representação matemática que descreve a conectividade e a estrutura do grafo.​</a:t>
            </a:r>
          </a:p>
          <a:p>
            <a:r>
              <a:rPr lang="pt-BR" sz="3600" dirty="0"/>
              <a:t>A convolução é definida no domínio de Fourier do grafo. Isso significa que as características dos nós são transformadas para um "domínio de frequências", onde filtros podem ser aplicados para identificar padrões estruturais.​</a:t>
            </a:r>
          </a:p>
          <a:p>
            <a:pPr marL="0" indent="0">
              <a:buNone/>
            </a:pPr>
            <a:r>
              <a:rPr lang="pt-BR" sz="3600" dirty="0"/>
              <a:t>Espaciais: </a:t>
            </a:r>
          </a:p>
          <a:p>
            <a:r>
              <a:rPr lang="pt-BR" sz="3600" dirty="0"/>
              <a:t>Definem a convolução direto no espaço do grafo. Cada nó agrega das informações dos vizinhos(media, soma, </a:t>
            </a:r>
            <a:r>
              <a:rPr lang="pt-BR" sz="3600" dirty="0" err="1"/>
              <a:t>etc</a:t>
            </a:r>
            <a:r>
              <a:rPr lang="pt-BR" sz="3600" dirty="0"/>
              <a:t>) e combina com suas próprias.</a:t>
            </a:r>
          </a:p>
          <a:p>
            <a:pPr marL="0" indent="0">
              <a:buNone/>
            </a:pPr>
            <a:r>
              <a:rPr lang="pt-BR" sz="3600" dirty="0"/>
              <a:t>Pontos de importância:</a:t>
            </a:r>
          </a:p>
          <a:p>
            <a:r>
              <a:rPr lang="pt-BR" sz="3600" dirty="0"/>
              <a:t>Permite classificar nós, prever Links, classificar grafos.</a:t>
            </a:r>
          </a:p>
          <a:p>
            <a:r>
              <a:rPr lang="pt-BR" sz="3600" dirty="0"/>
              <a:t>Pratico, escalável e flexível, porém profundidade limitada (over-</a:t>
            </a:r>
            <a:r>
              <a:rPr lang="pt-BR" sz="3600" dirty="0" err="1"/>
              <a:t>smoothing</a:t>
            </a:r>
            <a:r>
              <a:rPr lang="pt-BR" sz="3600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702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0F0C9-7CC7-5B77-5D54-DAF1003C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3792" y="3840479"/>
            <a:ext cx="3808208" cy="29933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800" dirty="0"/>
              <a:t>Para calcular a nova representação de um nó, o modelo tira uma "média ponderada" das representações de todos os seus vizinhos (e dele mesmo) da camada anterior. Isso é feito para todos os nós de uma só vez.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51AFCAB-0537-E7DB-AA45-F07D0267E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315201" cy="68349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60DA6E-29C2-E388-DA7D-3F4EDF77B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34672"/>
            <a:ext cx="4742717" cy="92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63F75-9376-4036-7362-66BD5354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GAEs</a:t>
            </a:r>
            <a:r>
              <a:rPr lang="pt-BR" dirty="0"/>
              <a:t> - </a:t>
            </a:r>
            <a:r>
              <a:rPr lang="pt-BR" dirty="0" err="1"/>
              <a:t>Autoencoders</a:t>
            </a:r>
            <a:r>
              <a:rPr lang="pt-BR" dirty="0"/>
              <a:t> de Grafos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8FB09-D66A-EC0C-5574-43C25249B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2800" dirty="0"/>
              <a:t>Utiliza a estrutura de </a:t>
            </a:r>
            <a:r>
              <a:rPr lang="pt-BR" sz="2800" dirty="0" err="1"/>
              <a:t>autoencoders</a:t>
            </a:r>
            <a:r>
              <a:rPr lang="pt-BR" sz="2800" dirty="0"/>
              <a:t> (</a:t>
            </a:r>
            <a:r>
              <a:rPr lang="pt-BR" sz="2800" dirty="0" err="1"/>
              <a:t>encoder</a:t>
            </a:r>
            <a:r>
              <a:rPr lang="pt-BR" sz="2800" dirty="0"/>
              <a:t> + </a:t>
            </a:r>
            <a:r>
              <a:rPr lang="pt-BR" sz="2800" dirty="0" err="1"/>
              <a:t>decoder</a:t>
            </a:r>
            <a:r>
              <a:rPr lang="pt-BR" sz="2800" dirty="0"/>
              <a:t>).</a:t>
            </a:r>
          </a:p>
          <a:p>
            <a:pPr marL="0" indent="0">
              <a:buNone/>
            </a:pPr>
            <a:r>
              <a:rPr lang="pt-BR" sz="2800" dirty="0"/>
              <a:t>O </a:t>
            </a:r>
            <a:r>
              <a:rPr lang="pt-BR" sz="2800" dirty="0" err="1"/>
              <a:t>Encoder</a:t>
            </a:r>
            <a:r>
              <a:rPr lang="pt-BR" sz="2800" dirty="0"/>
              <a:t>, usando camadas de GNN, aprende a comprimir toda a informação de um nó (suas características e sua posição no grafo) em um único vetor denso, o </a:t>
            </a:r>
            <a:r>
              <a:rPr lang="pt-BR" sz="2800" dirty="0" err="1"/>
              <a:t>embedding</a:t>
            </a:r>
            <a:r>
              <a:rPr lang="pt-BR" sz="2800" dirty="0"/>
              <a:t>.</a:t>
            </a:r>
          </a:p>
          <a:p>
            <a:pPr marL="0" indent="0">
              <a:buNone/>
            </a:pPr>
            <a:r>
              <a:rPr lang="pt-BR" sz="2800" dirty="0"/>
              <a:t>Funcionamento:</a:t>
            </a:r>
          </a:p>
          <a:p>
            <a:r>
              <a:rPr lang="pt-BR" sz="2800" dirty="0"/>
              <a:t>A entrada são os grafos com suas características em cada nó e a matriz Adjacência.</a:t>
            </a:r>
          </a:p>
          <a:p>
            <a:r>
              <a:rPr lang="pt-BR" sz="2800" dirty="0"/>
              <a:t>O processo aprende a transmitir informações dos nós para os vizinhos.</a:t>
            </a:r>
          </a:p>
          <a:p>
            <a:r>
              <a:rPr lang="pt-BR" sz="2800" dirty="0"/>
              <a:t>E a saída é uma representação simplificada de cada nó. Essa representação é um vetor numérico chamado de </a:t>
            </a:r>
            <a:r>
              <a:rPr lang="pt-BR" sz="2800" dirty="0" err="1"/>
              <a:t>Embedding</a:t>
            </a:r>
            <a:r>
              <a:rPr lang="pt-BR" sz="2800" dirty="0"/>
              <a:t>.</a:t>
            </a:r>
          </a:p>
          <a:p>
            <a:pPr marL="0" indent="0">
              <a:buNone/>
            </a:pPr>
            <a:r>
              <a:rPr lang="pt-BR" sz="2800" dirty="0"/>
              <a:t>O </a:t>
            </a:r>
            <a:r>
              <a:rPr lang="pt-BR" sz="2800" dirty="0" err="1"/>
              <a:t>Decoder</a:t>
            </a:r>
            <a:r>
              <a:rPr lang="pt-BR" sz="2800" dirty="0"/>
              <a:t> tem a tarefa de reconstruir o grafo original usando apenas esses </a:t>
            </a:r>
            <a:r>
              <a:rPr lang="pt-BR" sz="2800" dirty="0" err="1"/>
              <a:t>embeddings</a:t>
            </a:r>
            <a:r>
              <a:rPr lang="pt-BR" sz="2800" dirty="0"/>
              <a:t>. A regra é simples: se dois </a:t>
            </a:r>
            <a:r>
              <a:rPr lang="pt-BR" sz="2800" dirty="0" err="1"/>
              <a:t>embeddings</a:t>
            </a:r>
            <a:r>
              <a:rPr lang="pt-BR" sz="2800" dirty="0"/>
              <a:t> são similares, o </a:t>
            </a:r>
            <a:r>
              <a:rPr lang="pt-BR" sz="2800" dirty="0" err="1"/>
              <a:t>Decoder</a:t>
            </a:r>
            <a:r>
              <a:rPr lang="pt-BR" sz="2800" dirty="0"/>
              <a:t> prevê que existe uma aresta entre os nós.</a:t>
            </a:r>
          </a:p>
          <a:p>
            <a:pPr marL="0" indent="0">
              <a:buNone/>
            </a:pPr>
            <a:r>
              <a:rPr lang="pt-BR" sz="2800" dirty="0"/>
              <a:t>Funcionamento:</a:t>
            </a:r>
          </a:p>
          <a:p>
            <a:r>
              <a:rPr lang="pt-BR" sz="2800" dirty="0"/>
              <a:t>Utiliza de uma operação de similaridade para calcular a probabilidade de existir uma aresta entre </a:t>
            </a:r>
            <a:r>
              <a:rPr lang="pt-BR" sz="2800" dirty="0" err="1"/>
              <a:t>Embedding</a:t>
            </a:r>
            <a:r>
              <a:rPr lang="pt-BR" sz="2800" dirty="0"/>
              <a:t>.</a:t>
            </a:r>
          </a:p>
          <a:p>
            <a:pPr marL="0" indent="0">
              <a:buNone/>
            </a:pPr>
            <a:r>
              <a:rPr lang="pt-BR" sz="2800" dirty="0"/>
              <a:t>Pontos de atenção:</a:t>
            </a:r>
          </a:p>
          <a:p>
            <a:r>
              <a:rPr lang="pt-BR" sz="2800" dirty="0"/>
              <a:t>É aplicado para previsão de Links, detecção de comunidades, simplifica grafos.</a:t>
            </a:r>
          </a:p>
          <a:p>
            <a:r>
              <a:rPr lang="pt-BR" sz="2800" dirty="0"/>
              <a:t>Aprendizado não supervisionado.</a:t>
            </a:r>
          </a:p>
          <a:p>
            <a:r>
              <a:rPr lang="pt-BR" sz="2800" dirty="0"/>
              <a:t>Utilizados em descobrir ou completar relações ocultas.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185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C3FEE-69CD-C6FA-B649-3AF8F63CA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579" y="4284849"/>
            <a:ext cx="4831080" cy="25731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O modelo aprende um vetor para cada nó. Para reconstruir o grafo, ele assume que se os vetores de dois nós são muito parecidos (alto produto escalar), então deve haver uma aresta entre eles.</a:t>
            </a:r>
          </a:p>
          <a:p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0B23741-D68A-FB57-94C1-3310FEC7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" y="0"/>
            <a:ext cx="6840854" cy="6858000"/>
          </a:xfrm>
          <a:prstGeom prst="rect">
            <a:avLst/>
          </a:prstGeom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3A31AA3-E619-B1F0-289F-241B65E1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86" y="1615586"/>
            <a:ext cx="4909073" cy="76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39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2E0BC-95C8-1F91-DAE9-474E5D7F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STGNNs</a:t>
            </a:r>
            <a:r>
              <a:rPr lang="pt-BR" dirty="0"/>
              <a:t> - Redes Neurais de Grafos Espaço-Temporais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8B1D6-D7BC-BC51-A729-5135EB9C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Esse modelo prevê o comportamento de sistemas que mudam ao longo do tempo e ao mesmo tempo, tem estrutura de conexões fixas ou dinâmicas.</a:t>
            </a:r>
          </a:p>
          <a:p>
            <a:pPr marL="0" indent="0">
              <a:buNone/>
            </a:pPr>
            <a:r>
              <a:rPr lang="pt-BR" sz="2800" dirty="0"/>
              <a:t>Estrutura espacial: O sistema é um grafo.</a:t>
            </a:r>
          </a:p>
          <a:p>
            <a:pPr marL="0" indent="0">
              <a:buNone/>
            </a:pPr>
            <a:r>
              <a:rPr lang="pt-BR" sz="2800" dirty="0"/>
              <a:t>Dinâmica temporal: As informações mudam a cada instante. Um fluxo de informações em algum tempo afetaram outros.</a:t>
            </a:r>
          </a:p>
          <a:p>
            <a:pPr marL="0" indent="0">
              <a:buNone/>
            </a:pPr>
            <a:r>
              <a:rPr lang="pt-BR" sz="2800" dirty="0"/>
              <a:t>O modelo funciona da seguinte forma.</a:t>
            </a:r>
          </a:p>
          <a:p>
            <a:pPr marL="0" indent="0">
              <a:buNone/>
            </a:pPr>
            <a:r>
              <a:rPr lang="pt-BR" sz="2800" dirty="0"/>
              <a:t>GNN – captura relações espaciais.</a:t>
            </a:r>
          </a:p>
          <a:p>
            <a:pPr marL="0" indent="0">
              <a:buNone/>
            </a:pPr>
            <a:r>
              <a:rPr lang="pt-BR" sz="2800" dirty="0"/>
              <a:t>RNN -  Modelar as relações temporais.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263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56E5983-39AC-3F4F-57E7-3144E2A2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2"/>
            <a:ext cx="7551060" cy="683379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250C59-229E-CFF6-59B3-3B82C744F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7477" y="3958814"/>
            <a:ext cx="3668357" cy="26786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Em cada passo de tempo, o modelo olha duas coisas:</a:t>
            </a:r>
          </a:p>
          <a:p>
            <a:pPr marL="0" indent="0">
              <a:buNone/>
            </a:pPr>
            <a:r>
              <a:rPr lang="pt-BR" dirty="0"/>
              <a:t>1) Qual era o estado do sistema no tempo anterior (como uma RNN)? </a:t>
            </a:r>
          </a:p>
          <a:p>
            <a:pPr marL="0" indent="0">
              <a:buNone/>
            </a:pPr>
            <a:r>
              <a:rPr lang="pt-BR" dirty="0"/>
              <a:t>2) Qual é a influência dos vizinhos no grafo neste exato momento (como uma GNN)?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714976-D368-D9A8-7FD3-DFF98620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126" y="2987281"/>
            <a:ext cx="5453874" cy="44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488D45F-4683-29E1-5FBC-A74AE94E2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79"/>
            <a:ext cx="10743759" cy="670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22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FAED7-C0BA-526F-76BE-578934FB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 Complexidade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836A0-4C21-8FC0-3CBA-07DB17E83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sz="2400" dirty="0"/>
              <a:t>Analisando espaciais como GCN, </a:t>
            </a:r>
            <a:r>
              <a:rPr lang="pt-BR" sz="2400" dirty="0" err="1"/>
              <a:t>GraphSage</a:t>
            </a:r>
            <a:r>
              <a:rPr lang="pt-BR" sz="2400" dirty="0"/>
              <a:t> e GAT. A complexidade deles é O(m), ou seja, linear ao número de arestas. Essa foi a inovação que permitiu que </a:t>
            </a:r>
            <a:r>
              <a:rPr lang="pt-BR" sz="2400" dirty="0" err="1"/>
              <a:t>GNNs</a:t>
            </a:r>
            <a:r>
              <a:rPr lang="pt-BR" sz="2400" dirty="0"/>
              <a:t> fossem aplicadas em grafos massivos, como redes sociais.</a:t>
            </a:r>
          </a:p>
          <a:p>
            <a:pPr>
              <a:defRPr sz="2200"/>
            </a:pPr>
            <a:r>
              <a:rPr lang="pt-BR" sz="2400" dirty="0"/>
              <a:t>Observe na tabela os primeiros modelos como </a:t>
            </a:r>
            <a:r>
              <a:rPr lang="pt-BR" sz="2400" dirty="0" err="1"/>
              <a:t>Spectral</a:t>
            </a:r>
            <a:r>
              <a:rPr lang="pt-BR" sz="2400" dirty="0"/>
              <a:t> CNN e </a:t>
            </a:r>
            <a:r>
              <a:rPr lang="pt-BR" sz="2400" dirty="0" err="1"/>
              <a:t>ChebNet</a:t>
            </a:r>
            <a:r>
              <a:rPr lang="pt-BR" sz="2400" dirty="0"/>
              <a:t>. A coluna Time </a:t>
            </a:r>
            <a:r>
              <a:rPr lang="pt-BR" sz="2400" dirty="0" err="1"/>
              <a:t>Complexity</a:t>
            </a:r>
            <a:r>
              <a:rPr lang="pt-BR" sz="2400" dirty="0"/>
              <a:t> mostra O(n³). Isso significa que o custo computacional crescia de forma cúbica com o número de nós, limitando-os a grafos muito pequenos.</a:t>
            </a:r>
            <a:endParaRPr lang="pt-BR" sz="2400" b="0" i="0" dirty="0">
              <a:effectLst/>
            </a:endParaRPr>
          </a:p>
          <a:p>
            <a:pPr>
              <a:defRPr sz="2200"/>
            </a:pPr>
            <a:r>
              <a:rPr lang="pt-BR" sz="2400" dirty="0"/>
              <a:t>O GCN embora seja espectral sua formulação simples faz com que seja interpretado como um método espacial de complexidade O(m).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94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FD75F4B-1A35-053F-E24C-35C80D7C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5" y="194803"/>
            <a:ext cx="11644369" cy="3261643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9F955-A1D8-DF2D-7F02-55FA98EF8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456" y="3110662"/>
            <a:ext cx="10113085" cy="3344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/>
              <a:t>O modelo GCN tem complexibilidade dependentes do numero total de nós e arestas. OBS: compila o grafo inteiro de uma única vez. </a:t>
            </a:r>
          </a:p>
          <a:p>
            <a:pPr marL="0" indent="0">
              <a:buNone/>
            </a:pPr>
            <a:r>
              <a:rPr lang="pt-BR" sz="1400" dirty="0"/>
              <a:t>Os modelos </a:t>
            </a:r>
            <a:r>
              <a:rPr lang="pt-BR" sz="1400" dirty="0" err="1"/>
              <a:t>GraphSage</a:t>
            </a:r>
            <a:r>
              <a:rPr lang="pt-BR" sz="1400" dirty="0"/>
              <a:t> e </a:t>
            </a:r>
            <a:r>
              <a:rPr lang="pt-BR" sz="1400" dirty="0" err="1"/>
              <a:t>FastGCN</a:t>
            </a:r>
            <a:r>
              <a:rPr lang="pt-BR" sz="1400" dirty="0"/>
              <a:t> ambos introduzem o conceito de amostragem para evitar processar o grafo inteiro. A evidência está na presença do parâmetro r (tamanho da amostra) em suas fórmulas de complexidade.</a:t>
            </a:r>
          </a:p>
          <a:p>
            <a:r>
              <a:rPr lang="pt-BR" sz="1400" dirty="0" err="1"/>
              <a:t>GraphSage</a:t>
            </a:r>
            <a:r>
              <a:rPr lang="pt-BR" sz="1400" dirty="0"/>
              <a:t> amostra um número fixo de vizinhos para cada nó.</a:t>
            </a:r>
          </a:p>
          <a:p>
            <a:r>
              <a:rPr lang="pt-BR" sz="1400" dirty="0" err="1"/>
              <a:t>FastGCN</a:t>
            </a:r>
            <a:r>
              <a:rPr lang="pt-BR" sz="1400" dirty="0"/>
              <a:t> amostra um número fixo de nós em cada camada, perdendo detalhe estrutural de cada nó.</a:t>
            </a:r>
          </a:p>
          <a:p>
            <a:pPr marL="0" indent="0">
              <a:buNone/>
            </a:pPr>
            <a:r>
              <a:rPr lang="pt-BR" sz="1400" dirty="0"/>
              <a:t>O modelo </a:t>
            </a:r>
            <a:r>
              <a:rPr lang="pt-BR" sz="1400" dirty="0" err="1"/>
              <a:t>StoGCN</a:t>
            </a:r>
            <a:r>
              <a:rPr lang="pt-BR" sz="1400" dirty="0"/>
              <a:t> possui uma fórmula de complexidade de tempo é uma combinação das complexidades do GCN e do </a:t>
            </a:r>
            <a:r>
              <a:rPr lang="pt-BR" sz="1400" dirty="0" err="1"/>
              <a:t>GraphSage</a:t>
            </a:r>
            <a:r>
              <a:rPr lang="pt-BR" sz="1400" dirty="0"/>
              <a:t>, refletindo sua técnica de usar representações históricas para reduzir a variância do gradiente.</a:t>
            </a:r>
          </a:p>
          <a:p>
            <a:pPr marL="0" indent="0">
              <a:buNone/>
            </a:pPr>
            <a:r>
              <a:rPr lang="pt-BR" sz="1400" dirty="0"/>
              <a:t>O modelo Cluster-GCN não depende do numero total de nós mas do tamanho do lote (batch), pois ele opera em </a:t>
            </a:r>
            <a:r>
              <a:rPr lang="pt-BR" sz="1400" dirty="0" err="1"/>
              <a:t>subgrafos</a:t>
            </a:r>
            <a:r>
              <a:rPr lang="pt-BR" sz="1400" dirty="0"/>
              <a:t> (clusters).</a:t>
            </a:r>
          </a:p>
        </p:txBody>
      </p:sp>
    </p:spTree>
    <p:extLst>
      <p:ext uri="{BB962C8B-B14F-4D97-AF65-F5344CB8AC3E}">
        <p14:creationId xmlns:p14="http://schemas.microsoft.com/office/powerpoint/2010/main" val="47151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EFE88-32E0-3FF6-E850-EA68025F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Escalabilidade no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50CDD4-9379-264E-055E-3B9FFBD54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15513" cy="4946779"/>
          </a:xfrm>
        </p:spPr>
        <p:txBody>
          <a:bodyPr>
            <a:normAutofit fontScale="92500"/>
          </a:bodyPr>
          <a:lstStyle/>
          <a:p>
            <a:pPr>
              <a:defRPr sz="2200"/>
            </a:pPr>
            <a:r>
              <a:rPr lang="pt-BR" sz="2600" dirty="0"/>
              <a:t>O GCN, apesar de rápido, tem uma limitação de memória, como vemos na tabela: sua complexidade O(</a:t>
            </a:r>
            <a:r>
              <a:rPr lang="pt-BR" sz="2600" dirty="0" err="1"/>
              <a:t>Knd</a:t>
            </a:r>
            <a:r>
              <a:rPr lang="pt-BR" sz="2600" dirty="0"/>
              <a:t>) exige que o grafo inteiro caiba na GPU.</a:t>
            </a:r>
          </a:p>
          <a:p>
            <a:pPr>
              <a:defRPr sz="2200"/>
            </a:pPr>
            <a:r>
              <a:rPr lang="pt-BR" sz="2600" dirty="0"/>
              <a:t>O </a:t>
            </a:r>
            <a:r>
              <a:rPr lang="pt-BR" sz="2600" dirty="0" err="1"/>
              <a:t>GraphSage</a:t>
            </a:r>
            <a:r>
              <a:rPr lang="pt-BR" sz="2600" dirty="0"/>
              <a:t> resolveu isso amostrando vizinhos, mas a tabela mostra um custo: a complexidade de memória pode crescer exponencialmente com a profundidade do modelo (</a:t>
            </a:r>
            <a:r>
              <a:rPr lang="pt-BR" sz="2600" dirty="0" err="1"/>
              <a:t>r^K</a:t>
            </a:r>
            <a:r>
              <a:rPr lang="pt-BR" sz="2600" dirty="0"/>
              <a:t>).</a:t>
            </a:r>
          </a:p>
          <a:p>
            <a:pPr>
              <a:defRPr sz="2200"/>
            </a:pPr>
            <a:r>
              <a:rPr lang="pt-BR" sz="2600" dirty="0"/>
              <a:t>​O Cluster-GCN apresenta a solução mais eficiente. Sua complexidade de memória (O(</a:t>
            </a:r>
            <a:r>
              <a:rPr lang="pt-BR" sz="2600" dirty="0" err="1"/>
              <a:t>Ksd</a:t>
            </a:r>
            <a:r>
              <a:rPr lang="pt-BR" sz="2600" dirty="0"/>
              <a:t>)) é a menor, não depende da profundidade da rede e se ajusta ao tamanho do lote (batch). Isso o torna ideal para os maiores grafos existentes.</a:t>
            </a:r>
          </a:p>
          <a:p>
            <a:pPr>
              <a:defRPr sz="2200"/>
            </a:pPr>
            <a:r>
              <a:rPr lang="pt-BR" sz="2600" dirty="0"/>
              <a:t>O tempo de treinamento tem a mesma complexidade de um GCN (rápido). O ponto principal e que a GPU não perde tempo localizando cada vizinho, pois eles estão agrupados no </a:t>
            </a:r>
            <a:r>
              <a:rPr lang="pt-BR" sz="2600" dirty="0" err="1"/>
              <a:t>subgrafos</a:t>
            </a:r>
            <a:r>
              <a:rPr lang="pt-BR" sz="2600" dirty="0"/>
              <a:t> (cluster).</a:t>
            </a:r>
          </a:p>
          <a:p>
            <a:pPr>
              <a:defRPr sz="2200"/>
            </a:pPr>
            <a:r>
              <a:rPr lang="pt-BR" sz="2600" dirty="0"/>
              <a:t>Complexidade de memoria é a menor dentre as redes e pode ser ajustado para se adequar a memoria disponível.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9862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D66C286-3287-6310-A86B-14C271B3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80" y="127807"/>
            <a:ext cx="10750694" cy="629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67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1930-89F5-E3C4-B75C-5533FC5B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957"/>
            <a:ext cx="10515600" cy="1325563"/>
          </a:xfrm>
        </p:spPr>
        <p:txBody>
          <a:bodyPr/>
          <a:lstStyle/>
          <a:p>
            <a:r>
              <a:rPr lang="pt-BR" dirty="0"/>
              <a:t>Performance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10EEC1-492E-A996-B73E-4FD66766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​O Baseline Forte (GCN)​"A tabela confirma o GCN como um excelente ponto de partida. Em um </a:t>
            </a:r>
            <a:r>
              <a:rPr lang="pt-BR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clássico como o Cora, ele atinge sólidos 81.5% de acurácia.</a:t>
            </a:r>
          </a:p>
          <a:p>
            <a:pPr lvl="0"/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​O Refinamento com Atenção (GAT)​"O GAT mostra o poder de um refinamento inteligente. Ao ponderar a importância dos vizinhos, ele supera o GCN no mesmo </a:t>
            </a:r>
            <a:r>
              <a:rPr lang="pt-BR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alcançando 83.0%.</a:t>
            </a:r>
          </a:p>
          <a:p>
            <a:pPr lvl="0"/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Estado-da-Arte em Larga Escala (Cluster-GCN)​"Mas a prova final está nos grafos massivos. Em </a:t>
            </a:r>
            <a:r>
              <a:rPr lang="pt-BR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datasets</a:t>
            </a:r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como PPI e </a:t>
            </a:r>
            <a:r>
              <a:rPr lang="pt-BR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Reddit</a:t>
            </a:r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 Cluster-GCN não apenas é o mais eficiente em memória, como também alcança a melhor performance. Observe os resultados de 99.36 no PPI e 96.60 no </a:t>
            </a:r>
            <a:r>
              <a:rPr lang="pt-BR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Reddit</a:t>
            </a:r>
            <a:r>
              <a:rPr lang="pt-BR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Isso prova que as inovações em escalabilidade levaram a um novo estado-da-arte.</a:t>
            </a:r>
          </a:p>
          <a:p>
            <a:pPr lvl="1"/>
            <a:endParaRPr lang="pt-B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pt-BR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artigo evidencia que não apresenta conclusões definitivas. O que é apresentado a evolução e o aumento da capacidade das </a:t>
            </a:r>
            <a:r>
              <a:rPr lang="pt-BR" sz="2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GNNs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8071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5D771-EE27-1F4B-907B-3F04E328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Direções Futuras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8088A9-D247-5528-154E-27AA2FEE3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/>
              <a:t>O campo continua aberto a inovações para superar desafios-chave :</a:t>
            </a:r>
          </a:p>
          <a:p>
            <a:pPr>
              <a:defRPr sz="2200"/>
            </a:pPr>
            <a:r>
              <a:rPr lang="pt-BR" dirty="0"/>
              <a:t>Profundidade do Modelo: Como construir </a:t>
            </a:r>
            <a:r>
              <a:rPr lang="pt-BR" dirty="0" err="1"/>
              <a:t>GNNs</a:t>
            </a:r>
            <a:r>
              <a:rPr lang="pt-BR" dirty="0"/>
              <a:t> 'profundas' que não sofram de </a:t>
            </a:r>
            <a:r>
              <a:rPr lang="pt-BR" dirty="0" err="1"/>
              <a:t>supersuavização</a:t>
            </a:r>
            <a:r>
              <a:rPr lang="pt-BR" dirty="0"/>
              <a:t> (over-</a:t>
            </a:r>
            <a:r>
              <a:rPr lang="pt-BR" dirty="0" err="1"/>
              <a:t>smoothing</a:t>
            </a:r>
            <a:r>
              <a:rPr lang="pt-BR" dirty="0"/>
              <a:t>)?</a:t>
            </a:r>
          </a:p>
          <a:p>
            <a:pPr>
              <a:defRPr sz="2200"/>
            </a:pPr>
            <a:r>
              <a:rPr lang="pt-BR" dirty="0"/>
              <a:t>Escalabilidade: O trade-off entre eficiência e a integridade da informação do grafo.</a:t>
            </a:r>
          </a:p>
          <a:p>
            <a:pPr>
              <a:defRPr sz="2200"/>
            </a:pPr>
            <a:r>
              <a:rPr lang="pt-BR" dirty="0"/>
              <a:t>Heterogeneidade: Lidar com grafos com múltiplos tipos de nós e arestas.</a:t>
            </a:r>
          </a:p>
          <a:p>
            <a:pPr>
              <a:defRPr sz="2200"/>
            </a:pPr>
            <a:r>
              <a:rPr lang="pt-BR" dirty="0"/>
              <a:t>Dinamismo: Adaptar modelos para grafos cuja estrutura muda com o tempo.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0856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1CBD2-EAB6-8DC8-F794-E10A02F01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0F4B1-F865-64A0-10CA-57DB45276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pt-BR" dirty="0" err="1"/>
              <a:t>GNNs</a:t>
            </a:r>
            <a:r>
              <a:rPr lang="pt-BR" dirty="0"/>
              <a:t> representam uma mudança de paradigma, aplicando </a:t>
            </a:r>
            <a:r>
              <a:rPr lang="pt-BR" dirty="0" err="1"/>
              <a:t>Deep</a:t>
            </a:r>
            <a:r>
              <a:rPr lang="pt-BR" dirty="0"/>
              <a:t> Learning a dados relacionais complexos.</a:t>
            </a:r>
          </a:p>
          <a:p>
            <a:pPr>
              <a:defRPr sz="2200"/>
            </a:pPr>
            <a:r>
              <a:rPr lang="pt-BR" dirty="0"/>
              <a:t>Vimos a evolução de modelos pioneiros para arquiteturas eficientes, escaláveis e de alta performance.</a:t>
            </a:r>
          </a:p>
          <a:p>
            <a:pPr>
              <a:defRPr sz="2200"/>
            </a:pPr>
            <a:r>
              <a:rPr lang="pt-BR" dirty="0"/>
              <a:t>Alguns modelos se destacaram em contextos gerais:</a:t>
            </a:r>
          </a:p>
          <a:p>
            <a:pPr lvl="1">
              <a:defRPr sz="2200"/>
            </a:pPr>
            <a:r>
              <a:rPr lang="pt-BR" dirty="0"/>
              <a:t>GCN: Como um baseline poderoso e eficiente que popularizou o campo.</a:t>
            </a:r>
          </a:p>
          <a:p>
            <a:pPr lvl="1">
              <a:defRPr sz="2200"/>
            </a:pPr>
            <a:r>
              <a:rPr lang="pt-BR" dirty="0"/>
              <a:t>GAT: Pela inovação do mecanismo de atenção, melhorando a performance.</a:t>
            </a:r>
          </a:p>
          <a:p>
            <a:pPr lvl="1">
              <a:defRPr sz="2200"/>
            </a:pPr>
            <a:r>
              <a:rPr lang="pt-BR" dirty="0" err="1"/>
              <a:t>GraphSage</a:t>
            </a:r>
            <a:r>
              <a:rPr lang="pt-BR" dirty="0"/>
              <a:t> e Cluster-GCN: Por resolverem o desafio da escalabilidade em grafos massivos.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8479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E8E4-C880-28BC-0D38-CCD41B8D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				Perguntas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DAF5F7-97A9-8B14-0338-7D5BB57C0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Questionário: </a:t>
            </a:r>
          </a:p>
          <a:p>
            <a:pPr marL="0" indent="0">
              <a:buNone/>
            </a:pPr>
            <a:r>
              <a:rPr lang="pt-BR" dirty="0"/>
              <a:t>https://docs.google.com/forms/d/e/1FAIpQLSdJq1_k_Il3gnmvtZE_HWH6MUHtvhPYfIB3NirpFyoQd5nTDA/viewform?usp=header</a:t>
            </a:r>
          </a:p>
        </p:txBody>
      </p:sp>
    </p:spTree>
    <p:extLst>
      <p:ext uri="{BB962C8B-B14F-4D97-AF65-F5344CB8AC3E}">
        <p14:creationId xmlns:p14="http://schemas.microsoft.com/office/powerpoint/2010/main" val="15291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7967</TotalTime>
  <Words>2480</Words>
  <Application>Microsoft Office PowerPoint</Application>
  <PresentationFormat>Widescreen</PresentationFormat>
  <Paragraphs>156</Paragraphs>
  <Slides>27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Tema do Office</vt:lpstr>
      <vt:lpstr>TP558 - Tópicos avançados em Machine Learning: Redes Neurais de Grafos (GNNs)</vt:lpstr>
      <vt:lpstr>Introdução</vt:lpstr>
      <vt:lpstr>Conceitos Fundamentais</vt:lpstr>
      <vt:lpstr>O Limite do Deep Learning</vt:lpstr>
      <vt:lpstr>O Mundo é um Grafo</vt:lpstr>
      <vt:lpstr>A Solução - GNNs</vt:lpstr>
      <vt:lpstr>Como as GNNs Enxergam os Grafos</vt:lpstr>
      <vt:lpstr>A Ideia Central - Convolução em Grafos</vt:lpstr>
      <vt:lpstr>Taxonomia das GNNs</vt:lpstr>
      <vt:lpstr>RecGNNs - Redes Neurais de Grafos Recorrentes</vt:lpstr>
      <vt:lpstr>Apresentação do PowerPoint</vt:lpstr>
      <vt:lpstr>ConvGNNs - Redes Neurais de Grafos Convolucionais </vt:lpstr>
      <vt:lpstr>Apresentação do PowerPoint</vt:lpstr>
      <vt:lpstr>GAEs - Autoencoders de Grafos</vt:lpstr>
      <vt:lpstr>Apresentação do PowerPoint</vt:lpstr>
      <vt:lpstr>STGNNs - Redes Neurais de Grafos Espaço-Temporais </vt:lpstr>
      <vt:lpstr>Apresentação do PowerPoint</vt:lpstr>
      <vt:lpstr>Apresentação do PowerPoint</vt:lpstr>
      <vt:lpstr>Arquitetura e Complexidade</vt:lpstr>
      <vt:lpstr>Apresentação do PowerPoint</vt:lpstr>
      <vt:lpstr>Escalabilidade no Treinamento</vt:lpstr>
      <vt:lpstr>Apresentação do PowerPoint</vt:lpstr>
      <vt:lpstr>Performance na Prática</vt:lpstr>
      <vt:lpstr>Direções Futuras</vt:lpstr>
      <vt:lpstr>Conclusão</vt:lpstr>
      <vt:lpstr>Apresentação do PowerPoint</vt:lpstr>
      <vt:lpstr>    Perguntas?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Tulio Volpato</cp:lastModifiedBy>
  <cp:revision>1739</cp:revision>
  <dcterms:created xsi:type="dcterms:W3CDTF">2020-01-20T13:50:05Z</dcterms:created>
  <dcterms:modified xsi:type="dcterms:W3CDTF">2025-09-13T17:08:57Z</dcterms:modified>
</cp:coreProperties>
</file>